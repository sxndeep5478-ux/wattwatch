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401e142-c76f-69bf-cd4d-cb1b69eb2d38}">
          <p14:sldIdLst>
            <p14:sldId id="256"/>
          </p14:sldIdLst>
        </p14:section>
        <p14:section name="Problem" id="{6e189a3c-2d94-7590-156f-588ddca7a40b}">
          <p14:sldIdLst>
            <p14:sldId id="257"/>
          </p14:sldIdLst>
        </p14:section>
        <p14:section name="Solution" id="{fc52fc0e-f829-bc93-7bb5-9b5c058ffe2a}">
          <p14:sldIdLst>
            <p14:sldId id="258"/>
          </p14:sldIdLst>
        </p14:section>
        <p14:section name="Product" id="{505a8ca2-073d-6df5-e95e-35082799cbe2}">
          <p14:sldIdLst>
            <p14:sldId id="259"/>
          </p14:sldIdLst>
        </p14:section>
        <p14:section name="Insights" id="{2049b888-8a12-72a7-ed5d-18e779ee9b9b}">
          <p14:sldIdLst>
            <p14:sldId id="260"/>
          </p14:sldIdLst>
        </p14:section>
        <p14:section name="Impact" id="{89da9e90-be47-318b-64ea-e993c99a066b}">
          <p14:sldIdLst>
            <p14:sldId id="261"/>
          </p14:sldIdLst>
        </p14:section>
        <p14:section name="Close" id="{4d00c39a-1955-91d7-9b2c-f8fe065bb16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21"/>
                </a:solidFill>
                <a:latin typeface="+mn-lt"/>
              </a:rPr>
              <a:t>Campus load, kW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Tomorrow (forecast)</c:v>
                </c:pt>
              </c:strCache>
            </c:strRef>
          </c:tx>
          <c:spPr>
            <a:solidFill>
              <a:srgbClr val="0B6E4F"/>
            </a:solidFill>
            <a:ln w="38100" cap="flat">
              <a:solidFill>
                <a:srgbClr val="0B6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6E4F"/>
              </a:solidFill>
              <a:ln w="9525" cap="flat">
                <a:solidFill>
                  <a:srgbClr val="0B6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12a</c:v>
                  </c:pt>
                  <c:pt idx="1">
                    <c:v>1a</c:v>
                  </c:pt>
                  <c:pt idx="2">
                    <c:v>2a</c:v>
                  </c:pt>
                  <c:pt idx="3">
                    <c:v>3a</c:v>
                  </c:pt>
                  <c:pt idx="4">
                    <c:v>4a</c:v>
                  </c:pt>
                  <c:pt idx="5">
                    <c:v>5a</c:v>
                  </c:pt>
                  <c:pt idx="6">
                    <c:v>6a</c:v>
                  </c:pt>
                  <c:pt idx="7">
                    <c:v>7a</c:v>
                  </c:pt>
                  <c:pt idx="8">
                    <c:v>8a</c:v>
                  </c:pt>
                  <c:pt idx="9">
                    <c:v>9a</c:v>
                  </c:pt>
                  <c:pt idx="10">
                    <c:v>10a</c:v>
                  </c:pt>
                  <c:pt idx="11">
                    <c:v>11a</c:v>
                  </c:pt>
                  <c:pt idx="12">
                    <c:v>12p</c:v>
                  </c:pt>
                  <c:pt idx="13">
                    <c:v>1p</c:v>
                  </c:pt>
                  <c:pt idx="14">
                    <c:v>2p</c:v>
                  </c:pt>
                  <c:pt idx="15">
                    <c:v>3p</c:v>
                  </c:pt>
                  <c:pt idx="16">
                    <c:v>4p</c:v>
                  </c:pt>
                  <c:pt idx="17">
                    <c:v>5p</c:v>
                  </c:pt>
                  <c:pt idx="18">
                    <c:v>6p</c:v>
                  </c:pt>
                  <c:pt idx="19">
                    <c:v>7p</c:v>
                  </c:pt>
                  <c:pt idx="20">
                    <c:v>8p</c:v>
                  </c:pt>
                  <c:pt idx="21">
                    <c:v>9p</c:v>
                  </c:pt>
                  <c:pt idx="22">
                    <c:v>10p</c:v>
                  </c:pt>
                  <c:pt idx="23">
                    <c:v>11p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168</c:v>
                </c:pt>
                <c:pt idx="1">
                  <c:v>106</c:v>
                </c:pt>
                <c:pt idx="2">
                  <c:v>106</c:v>
                </c:pt>
                <c:pt idx="3">
                  <c:v>106</c:v>
                </c:pt>
                <c:pt idx="4">
                  <c:v>106</c:v>
                </c:pt>
                <c:pt idx="5">
                  <c:v>106</c:v>
                </c:pt>
                <c:pt idx="6">
                  <c:v>191</c:v>
                </c:pt>
                <c:pt idx="7">
                  <c:v>191</c:v>
                </c:pt>
                <c:pt idx="8">
                  <c:v>459</c:v>
                </c:pt>
                <c:pt idx="9">
                  <c:v>587</c:v>
                </c:pt>
                <c:pt idx="10">
                  <c:v>614</c:v>
                </c:pt>
                <c:pt idx="11">
                  <c:v>617</c:v>
                </c:pt>
                <c:pt idx="12">
                  <c:v>595</c:v>
                </c:pt>
                <c:pt idx="13">
                  <c:v>501</c:v>
                </c:pt>
                <c:pt idx="14">
                  <c:v>593</c:v>
                </c:pt>
                <c:pt idx="15">
                  <c:v>578</c:v>
                </c:pt>
                <c:pt idx="16">
                  <c:v>561</c:v>
                </c:pt>
                <c:pt idx="17">
                  <c:v>425</c:v>
                </c:pt>
                <c:pt idx="18">
                  <c:v>291</c:v>
                </c:pt>
                <c:pt idx="19">
                  <c:v>308</c:v>
                </c:pt>
                <c:pt idx="20">
                  <c:v>259</c:v>
                </c:pt>
                <c:pt idx="21">
                  <c:v>259</c:v>
                </c:pt>
                <c:pt idx="22">
                  <c:v>247</c:v>
                </c:pt>
                <c:pt idx="23">
                  <c:v>226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A9B4AF"/>
            </a:solidFill>
            <a:ln w="38100" cap="flat">
              <a:solidFill>
                <a:srgbClr val="A9B4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9B4AF"/>
              </a:solidFill>
              <a:ln w="9525" cap="flat">
                <a:solidFill>
                  <a:srgbClr val="A9B4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12a</c:v>
                  </c:pt>
                  <c:pt idx="1">
                    <c:v>1a</c:v>
                  </c:pt>
                  <c:pt idx="2">
                    <c:v>2a</c:v>
                  </c:pt>
                  <c:pt idx="3">
                    <c:v>3a</c:v>
                  </c:pt>
                  <c:pt idx="4">
                    <c:v>4a</c:v>
                  </c:pt>
                  <c:pt idx="5">
                    <c:v>5a</c:v>
                  </c:pt>
                  <c:pt idx="6">
                    <c:v>6a</c:v>
                  </c:pt>
                  <c:pt idx="7">
                    <c:v>7a</c:v>
                  </c:pt>
                  <c:pt idx="8">
                    <c:v>8a</c:v>
                  </c:pt>
                  <c:pt idx="9">
                    <c:v>9a</c:v>
                  </c:pt>
                  <c:pt idx="10">
                    <c:v>10a</c:v>
                  </c:pt>
                  <c:pt idx="11">
                    <c:v>11a</c:v>
                  </c:pt>
                  <c:pt idx="12">
                    <c:v>12p</c:v>
                  </c:pt>
                  <c:pt idx="13">
                    <c:v>1p</c:v>
                  </c:pt>
                  <c:pt idx="14">
                    <c:v>2p</c:v>
                  </c:pt>
                  <c:pt idx="15">
                    <c:v>3p</c:v>
                  </c:pt>
                  <c:pt idx="16">
                    <c:v>4p</c:v>
                  </c:pt>
                  <c:pt idx="17">
                    <c:v>5p</c:v>
                  </c:pt>
                  <c:pt idx="18">
                    <c:v>6p</c:v>
                  </c:pt>
                  <c:pt idx="19">
                    <c:v>7p</c:v>
                  </c:pt>
                  <c:pt idx="20">
                    <c:v>8p</c:v>
                  </c:pt>
                  <c:pt idx="21">
                    <c:v>9p</c:v>
                  </c:pt>
                  <c:pt idx="22">
                    <c:v>10p</c:v>
                  </c:pt>
                  <c:pt idx="23">
                    <c:v>11p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158</c:v>
                </c:pt>
                <c:pt idx="1">
                  <c:v>103</c:v>
                </c:pt>
                <c:pt idx="2">
                  <c:v>104</c:v>
                </c:pt>
                <c:pt idx="3">
                  <c:v>100</c:v>
                </c:pt>
                <c:pt idx="4">
                  <c:v>97</c:v>
                </c:pt>
                <c:pt idx="5">
                  <c:v>96</c:v>
                </c:pt>
                <c:pt idx="6">
                  <c:v>178</c:v>
                </c:pt>
                <c:pt idx="7">
                  <c:v>185</c:v>
                </c:pt>
                <c:pt idx="8">
                  <c:v>450</c:v>
                </c:pt>
                <c:pt idx="9">
                  <c:v>562</c:v>
                </c:pt>
                <c:pt idx="10">
                  <c:v>565</c:v>
                </c:pt>
                <c:pt idx="11">
                  <c:v>557</c:v>
                </c:pt>
                <c:pt idx="12">
                  <c:v>548</c:v>
                </c:pt>
                <c:pt idx="13">
                  <c:v>480</c:v>
                </c:pt>
                <c:pt idx="14">
                  <c:v>582</c:v>
                </c:pt>
                <c:pt idx="15">
                  <c:v>559</c:v>
                </c:pt>
                <c:pt idx="16">
                  <c:v>522</c:v>
                </c:pt>
                <c:pt idx="17">
                  <c:v>385</c:v>
                </c:pt>
                <c:pt idx="18">
                  <c:v>266</c:v>
                </c:pt>
                <c:pt idx="19">
                  <c:v>292</c:v>
                </c:pt>
                <c:pt idx="20">
                  <c:v>253</c:v>
                </c:pt>
                <c:pt idx="21">
                  <c:v>252</c:v>
                </c:pt>
                <c:pt idx="22">
                  <c:v>233</c:v>
                </c:pt>
                <c:pt idx="23">
                  <c:v>206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A6A6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21"/>
                </a:solidFill>
                <a:latin typeface="+mn-lt"/>
              </a:rPr>
              <a:t>Where the saving comes from (₹ per month)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saving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Switch off ACs 10 min after class</c:v>
                  </c:pt>
                  <c:pt idx="1">
                    <c:v>Auto shutoff after 20 min empty</c:v>
                  </c:pt>
                  <c:pt idx="2">
                    <c:v>AC set to 24°C instead of 22°C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76376</c:v>
                </c:pt>
                <c:pt idx="1">
                  <c:v>45378</c:v>
                </c:pt>
                <c:pt idx="2">
                  <c:v>37622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every empty classroom with the lights, fans and AC running is money the campus pays for nothing. WattWatch makes that waste visible room by room and switches it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carry the problem: the waste is real, it happens after class, and nobody can see it. Then make it concrete with Room 204.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sense, send, store, learn, act. Stress that it is cheap off-the-shelf hardware and that privacy is built in: no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room page. Then switch to the live site: open Room 204, press Turn off power, and watch the status, the drawing and the cost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uses past load, the timetable and the weather. Anomaly detection compares each room and building with its own usual for that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rupees and CO2, not kWh. All numbers come from the planner on the website, so judges can change the sliders and see the result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with the real ESP32 node: leave the room empty, show the Telegram alert, and let the relay cut power. Then ask for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op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WattWatch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HACKATHON PITCH · CAMPUS ENERGY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WattWatch</a:t>
            </a:r>
            <a:endParaRPr lang="en-US" sz="6000" dirty="0"/>
          </a:p>
        </p:txBody>
      </p:sp>
      <p:sp>
        <p:nvSpPr>
          <p:cNvPr id="4" name="a2_tag"/>
          <p:cNvSpPr txBox="1"/>
          <p:nvPr/>
        </p:nvSpPr>
        <p:spPr>
          <a:xfrm>
            <a:off x="640080" y="33375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See where campus electricity goes, and stop paying to light and cool empty rooms.</a:t>
            </a:r>
            <a:endParaRPr lang="en-US" sz="2200" dirty="0"/>
          </a:p>
        </p:txBody>
      </p:sp>
      <p:sp>
        <p:nvSpPr>
          <p:cNvPr id="5" name="a3_chip0_b"/>
          <p:cNvSpPr/>
          <p:nvPr/>
        </p:nvSpPr>
        <p:spPr>
          <a:xfrm>
            <a:off x="640080" y="46634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34A39"/>
          </a:solidFill>
          <a:ln w="9525">
            <a:solidFill>
              <a:srgbClr val="2C6B55"/>
            </a:solidFill>
            <a:prstDash val="solid"/>
          </a:ln>
        </p:spPr>
      </p:sp>
      <p:sp>
        <p:nvSpPr>
          <p:cNvPr id="6" name="a3_chip0_t"/>
          <p:cNvSpPr txBox="1"/>
          <p:nvPr/>
        </p:nvSpPr>
        <p:spPr>
          <a:xfrm>
            <a:off x="640080" y="4663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ESP32 room sensors</a:t>
            </a:r>
            <a:endParaRPr lang="en-US" sz="1200" dirty="0"/>
          </a:p>
        </p:txBody>
      </p:sp>
      <p:sp>
        <p:nvSpPr>
          <p:cNvPr id="7" name="a3_chip1_b"/>
          <p:cNvSpPr/>
          <p:nvPr/>
        </p:nvSpPr>
        <p:spPr>
          <a:xfrm>
            <a:off x="3154680" y="46634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34A39"/>
          </a:solidFill>
          <a:ln w="9525">
            <a:solidFill>
              <a:srgbClr val="2C6B55"/>
            </a:solidFill>
            <a:prstDash val="solid"/>
          </a:ln>
        </p:spPr>
      </p:sp>
      <p:sp>
        <p:nvSpPr>
          <p:cNvPr id="8" name="a3_chip1_t"/>
          <p:cNvSpPr txBox="1"/>
          <p:nvPr/>
        </p:nvSpPr>
        <p:spPr>
          <a:xfrm>
            <a:off x="3154680" y="4663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Live campus map</a:t>
            </a:r>
            <a:endParaRPr lang="en-US" sz="1200" dirty="0"/>
          </a:p>
        </p:txBody>
      </p:sp>
      <p:sp>
        <p:nvSpPr>
          <p:cNvPr id="9" name="a3_chip2_b"/>
          <p:cNvSpPr/>
          <p:nvPr/>
        </p:nvSpPr>
        <p:spPr>
          <a:xfrm>
            <a:off x="640080" y="5212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34A39"/>
          </a:solidFill>
          <a:ln w="9525">
            <a:solidFill>
              <a:srgbClr val="2C6B55"/>
            </a:solidFill>
            <a:prstDash val="solid"/>
          </a:ln>
        </p:spPr>
      </p:sp>
      <p:sp>
        <p:nvSpPr>
          <p:cNvPr id="10" name="a3_chip2_t"/>
          <p:cNvSpPr txBox="1"/>
          <p:nvPr/>
        </p:nvSpPr>
        <p:spPr>
          <a:xfrm>
            <a:off x="640080" y="5212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Telegram alerts</a:t>
            </a:r>
            <a:endParaRPr lang="en-US" sz="1200" dirty="0"/>
          </a:p>
        </p:txBody>
      </p:sp>
      <p:sp>
        <p:nvSpPr>
          <p:cNvPr id="11" name="a3_chip3_b"/>
          <p:cNvSpPr/>
          <p:nvPr/>
        </p:nvSpPr>
        <p:spPr>
          <a:xfrm>
            <a:off x="3154680" y="5212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34A39"/>
          </a:solidFill>
          <a:ln w="9525">
            <a:solidFill>
              <a:srgbClr val="2C6B55"/>
            </a:solidFill>
            <a:prstDash val="solid"/>
          </a:ln>
        </p:spPr>
      </p:sp>
      <p:sp>
        <p:nvSpPr>
          <p:cNvPr id="12" name="a3_chip3_t"/>
          <p:cNvSpPr txBox="1"/>
          <p:nvPr/>
        </p:nvSpPr>
        <p:spPr>
          <a:xfrm>
            <a:off x="3154680" y="5212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Relay shutoff</a:t>
            </a:r>
            <a:endParaRPr lang="en-US" sz="1200" dirty="0"/>
          </a:p>
        </p:txBody>
      </p:sp>
      <p:pic>
        <p:nvPicPr>
          <p:cNvPr id="13" name="a4_shot" descr="/tmp/claude-0/-home-claude/7104edfb-7dc4-553f-9527-2994d722921b/scratchpad/ww/s-expl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5120640" cy="3200400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5000"/>
              </a:srgbClr>
            </a:outerShdw>
          </a:effectLst>
        </p:spPr>
      </p:pic>
      <p:sp>
        <p:nvSpPr>
          <p:cNvPr id="14" name="a4_cap"/>
          <p:cNvSpPr txBox="1"/>
          <p:nvPr/>
        </p:nvSpPr>
        <p:spPr>
          <a:xfrm>
            <a:off x="644652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The live dashboard: every room's status, cost per hour and the campus map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Our campus pays to light and cool empty rooms</a:t>
            </a:r>
            <a:endParaRPr lang="en-US" sz="3400" dirty="0"/>
          </a:p>
        </p:txBody>
      </p:sp>
      <p:sp>
        <p:nvSpPr>
          <p:cNvPr id="3" name="a1_card_b"/>
          <p:cNvSpPr/>
          <p:nvPr/>
        </p:nvSpPr>
        <p:spPr>
          <a:xfrm>
            <a:off x="640080" y="1600200"/>
            <a:ext cx="34290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a1_card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84048" cy="384048"/>
          </a:xfrm>
          <a:prstGeom prst="rect">
            <a:avLst/>
          </a:prstGeom>
        </p:spPr>
      </p:pic>
      <p:sp>
        <p:nvSpPr>
          <p:cNvPr id="5" name="a1_card_n"/>
          <p:cNvSpPr txBox="1"/>
          <p:nvPr/>
        </p:nvSpPr>
        <p:spPr>
          <a:xfrm>
            <a:off x="96012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15%</a:t>
            </a:r>
            <a:endParaRPr lang="en-US" sz="4800" dirty="0"/>
          </a:p>
        </p:txBody>
      </p:sp>
      <p:sp>
        <p:nvSpPr>
          <p:cNvPr id="6" name="a1_card_t"/>
          <p:cNvSpPr txBox="1"/>
          <p:nvPr/>
        </p:nvSpPr>
        <p:spPr>
          <a:xfrm>
            <a:off x="960120" y="3200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electricity bill is avoidable, mostly rooms running with no one inside</a:t>
            </a:r>
            <a:endParaRPr lang="en-US" sz="1400" dirty="0"/>
          </a:p>
        </p:txBody>
      </p:sp>
      <p:sp>
        <p:nvSpPr>
          <p:cNvPr id="7" name="a2_card_b"/>
          <p:cNvSpPr/>
          <p:nvPr/>
        </p:nvSpPr>
        <p:spPr>
          <a:xfrm>
            <a:off x="4343400" y="1600200"/>
            <a:ext cx="34290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a2_card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384048" cy="384048"/>
          </a:xfrm>
          <a:prstGeom prst="rect">
            <a:avLst/>
          </a:prstGeom>
        </p:spPr>
      </p:pic>
      <p:sp>
        <p:nvSpPr>
          <p:cNvPr id="9" name="a2_card_n"/>
          <p:cNvSpPr txBox="1"/>
          <p:nvPr/>
        </p:nvSpPr>
        <p:spPr>
          <a:xfrm>
            <a:off x="466344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70 min</a:t>
            </a:r>
            <a:endParaRPr lang="en-US" sz="4800" dirty="0"/>
          </a:p>
        </p:txBody>
      </p:sp>
      <p:sp>
        <p:nvSpPr>
          <p:cNvPr id="10" name="a2_card_t"/>
          <p:cNvSpPr txBox="1"/>
          <p:nvPr/>
        </p:nvSpPr>
        <p:spPr>
          <a:xfrm>
            <a:off x="4663440" y="3200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how long a room typically stays powered after the last class ends</a:t>
            </a:r>
            <a:endParaRPr lang="en-US" sz="1400" dirty="0"/>
          </a:p>
        </p:txBody>
      </p:sp>
      <p:sp>
        <p:nvSpPr>
          <p:cNvPr id="11" name="a3_card_b"/>
          <p:cNvSpPr/>
          <p:nvPr/>
        </p:nvSpPr>
        <p:spPr>
          <a:xfrm>
            <a:off x="8046720" y="1600200"/>
            <a:ext cx="34290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a3_card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74520"/>
            <a:ext cx="384048" cy="384048"/>
          </a:xfrm>
          <a:prstGeom prst="rect">
            <a:avLst/>
          </a:prstGeom>
        </p:spPr>
      </p:pic>
      <p:sp>
        <p:nvSpPr>
          <p:cNvPr id="13" name="a3_card_n"/>
          <p:cNvSpPr txBox="1"/>
          <p:nvPr/>
        </p:nvSpPr>
        <p:spPr>
          <a:xfrm>
            <a:off x="836676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4" name="a3_card_t"/>
          <p:cNvSpPr txBox="1"/>
          <p:nvPr/>
        </p:nvSpPr>
        <p:spPr>
          <a:xfrm>
            <a:off x="8366760" y="3200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rooms where anyone can see live usage today. The bill arrives once a month</a:t>
            </a:r>
            <a:endParaRPr lang="en-US" sz="1400" dirty="0"/>
          </a:p>
        </p:txBody>
      </p:sp>
      <p:sp>
        <p:nvSpPr>
          <p:cNvPr id="15" name="a4_ex_b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CEEEE"/>
          </a:solidFill>
          <a:ln w="9525">
            <a:solidFill>
              <a:srgbClr val="F3C9C9"/>
            </a:solidFill>
            <a:prstDash val="solid"/>
          </a:ln>
        </p:spPr>
      </p:sp>
      <p:pic>
        <p:nvPicPr>
          <p:cNvPr id="16" name="a4_ex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18888"/>
            <a:ext cx="457200" cy="457200"/>
          </a:xfrm>
          <a:prstGeom prst="rect">
            <a:avLst/>
          </a:prstGeom>
        </p:spPr>
      </p:pic>
      <p:sp>
        <p:nvSpPr>
          <p:cNvPr id="17" name="a4_ex_t"/>
          <p:cNvSpPr txBox="1"/>
          <p:nvPr/>
        </p:nvSpPr>
        <p:spPr>
          <a:xfrm>
            <a:off x="1691640" y="45262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Room 204, Block B, 1:44 PM.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ACs and ten lights have been running for 2 h 04 m since the 10:40 lecture ended. Nobody knows, so nobody switches them off. That one room loses about ₹35 every hour.</a:t>
            </a:r>
            <a:endParaRPr lang="en-US" sz="1600" dirty="0"/>
          </a:p>
        </p:txBody>
      </p:sp>
      <p:sp>
        <p:nvSpPr>
          <p:cNvPr id="18" name="a5_note"/>
          <p:cNvSpPr txBox="1"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Figures from our pilot simulation of 20 rooms and six building feeders, at ₹9 per kWh.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₹800 sensor in every room, one live view of the campus</a:t>
            </a:r>
            <a:endParaRPr lang="en-US" sz="3400" dirty="0"/>
          </a:p>
        </p:txBody>
      </p:sp>
      <p:sp>
        <p:nvSpPr>
          <p:cNvPr id="3" name="a1_f_c"/>
          <p:cNvSpPr/>
          <p:nvPr/>
        </p:nvSpPr>
        <p:spPr>
          <a:xfrm>
            <a:off x="1188720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a1_f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1908810"/>
            <a:ext cx="434340" cy="434340"/>
          </a:xfrm>
          <a:prstGeom prst="rect">
            <a:avLst/>
          </a:prstGeom>
        </p:spPr>
      </p:pic>
      <p:sp>
        <p:nvSpPr>
          <p:cNvPr id="5" name="a1_f_h"/>
          <p:cNvSpPr txBox="1"/>
          <p:nvPr/>
        </p:nvSpPr>
        <p:spPr>
          <a:xfrm>
            <a:off x="64008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Sense</a:t>
            </a:r>
            <a:endParaRPr lang="en-US" sz="2000" dirty="0"/>
          </a:p>
        </p:txBody>
      </p:sp>
      <p:sp>
        <p:nvSpPr>
          <p:cNvPr id="6" name="a1_f_d"/>
          <p:cNvSpPr txBox="1"/>
          <p:nvPr/>
        </p:nvSpPr>
        <p:spPr>
          <a:xfrm>
            <a:off x="640080" y="312724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ESP32 with an SCT-013 current clamp and a PIR presence sensor</a:t>
            </a:r>
            <a:endParaRPr lang="en-US" sz="1400" dirty="0"/>
          </a:p>
        </p:txBody>
      </p:sp>
      <p:pic>
        <p:nvPicPr>
          <p:cNvPr id="7" name="a2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956816"/>
            <a:ext cx="347472" cy="347472"/>
          </a:xfrm>
          <a:prstGeom prst="rect">
            <a:avLst/>
          </a:prstGeom>
        </p:spPr>
      </p:pic>
      <p:sp>
        <p:nvSpPr>
          <p:cNvPr id="8" name="a2_f_c"/>
          <p:cNvSpPr/>
          <p:nvPr/>
        </p:nvSpPr>
        <p:spPr>
          <a:xfrm>
            <a:off x="3429000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2_f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1908810"/>
            <a:ext cx="434340" cy="434340"/>
          </a:xfrm>
          <a:prstGeom prst="rect">
            <a:avLst/>
          </a:prstGeom>
        </p:spPr>
      </p:pic>
      <p:sp>
        <p:nvSpPr>
          <p:cNvPr id="10" name="a2_f_h"/>
          <p:cNvSpPr txBox="1"/>
          <p:nvPr/>
        </p:nvSpPr>
        <p:spPr>
          <a:xfrm>
            <a:off x="288036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Send</a:t>
            </a:r>
            <a:endParaRPr lang="en-US" sz="2000" dirty="0"/>
          </a:p>
        </p:txBody>
      </p:sp>
      <p:sp>
        <p:nvSpPr>
          <p:cNvPr id="11" name="a2_f_d"/>
          <p:cNvSpPr txBox="1"/>
          <p:nvPr/>
        </p:nvSpPr>
        <p:spPr>
          <a:xfrm>
            <a:off x="2880360" y="312724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Readings every 2 seconds over MQTT to HiveMQ Cloud</a:t>
            </a:r>
            <a:endParaRPr lang="en-US" sz="1400" dirty="0"/>
          </a:p>
        </p:txBody>
      </p:sp>
      <p:pic>
        <p:nvPicPr>
          <p:cNvPr id="12" name="a3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56816"/>
            <a:ext cx="347472" cy="347472"/>
          </a:xfrm>
          <a:prstGeom prst="rect">
            <a:avLst/>
          </a:prstGeom>
        </p:spPr>
      </p:pic>
      <p:sp>
        <p:nvSpPr>
          <p:cNvPr id="13" name="a3_f_c"/>
          <p:cNvSpPr/>
          <p:nvPr/>
        </p:nvSpPr>
        <p:spPr>
          <a:xfrm>
            <a:off x="5669280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3_f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1908810"/>
            <a:ext cx="434340" cy="434340"/>
          </a:xfrm>
          <a:prstGeom prst="rect">
            <a:avLst/>
          </a:prstGeom>
        </p:spPr>
      </p:pic>
      <p:sp>
        <p:nvSpPr>
          <p:cNvPr id="15" name="a3_f_h"/>
          <p:cNvSpPr txBox="1"/>
          <p:nvPr/>
        </p:nvSpPr>
        <p:spPr>
          <a:xfrm>
            <a:off x="512064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Store</a:t>
            </a:r>
            <a:endParaRPr lang="en-US" sz="2000" dirty="0"/>
          </a:p>
        </p:txBody>
      </p:sp>
      <p:sp>
        <p:nvSpPr>
          <p:cNvPr id="16" name="a3_f_d"/>
          <p:cNvSpPr txBox="1"/>
          <p:nvPr/>
        </p:nvSpPr>
        <p:spPr>
          <a:xfrm>
            <a:off x="5120640" y="312724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backend with InfluxDB for the time series</a:t>
            </a:r>
            <a:endParaRPr lang="en-US" sz="1400" dirty="0"/>
          </a:p>
        </p:txBody>
      </p:sp>
      <p:pic>
        <p:nvPicPr>
          <p:cNvPr id="17" name="a4_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956816"/>
            <a:ext cx="347472" cy="347472"/>
          </a:xfrm>
          <a:prstGeom prst="rect">
            <a:avLst/>
          </a:prstGeom>
        </p:spPr>
      </p:pic>
      <p:sp>
        <p:nvSpPr>
          <p:cNvPr id="18" name="a4_f_c"/>
          <p:cNvSpPr/>
          <p:nvPr/>
        </p:nvSpPr>
        <p:spPr>
          <a:xfrm>
            <a:off x="7909560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4_f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730" y="1908810"/>
            <a:ext cx="434340" cy="434340"/>
          </a:xfrm>
          <a:prstGeom prst="rect">
            <a:avLst/>
          </a:prstGeom>
        </p:spPr>
      </p:pic>
      <p:sp>
        <p:nvSpPr>
          <p:cNvPr id="20" name="a4_f_h"/>
          <p:cNvSpPr txBox="1"/>
          <p:nvPr/>
        </p:nvSpPr>
        <p:spPr>
          <a:xfrm>
            <a:off x="736092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Learn</a:t>
            </a:r>
            <a:endParaRPr lang="en-US" sz="2000" dirty="0"/>
          </a:p>
        </p:txBody>
      </p:sp>
      <p:sp>
        <p:nvSpPr>
          <p:cNvPr id="21" name="a4_f_d"/>
          <p:cNvSpPr txBox="1"/>
          <p:nvPr/>
        </p:nvSpPr>
        <p:spPr>
          <a:xfrm>
            <a:off x="7360920" y="312724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Prophet forecasts tomorrow; Isolation Forest flags odd spikes</a:t>
            </a:r>
            <a:endParaRPr lang="en-US" sz="1400" dirty="0"/>
          </a:p>
        </p:txBody>
      </p:sp>
      <p:pic>
        <p:nvPicPr>
          <p:cNvPr id="22" name="a5_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2" y="1956816"/>
            <a:ext cx="347472" cy="347472"/>
          </a:xfrm>
          <a:prstGeom prst="rect">
            <a:avLst/>
          </a:prstGeom>
        </p:spPr>
      </p:pic>
      <p:sp>
        <p:nvSpPr>
          <p:cNvPr id="23" name="a5_f_c"/>
          <p:cNvSpPr/>
          <p:nvPr/>
        </p:nvSpPr>
        <p:spPr>
          <a:xfrm>
            <a:off x="10149840" y="169164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a5_f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7010" y="1908810"/>
            <a:ext cx="434340" cy="434340"/>
          </a:xfrm>
          <a:prstGeom prst="rect">
            <a:avLst/>
          </a:prstGeom>
        </p:spPr>
      </p:pic>
      <p:sp>
        <p:nvSpPr>
          <p:cNvPr id="25" name="a5_f_h"/>
          <p:cNvSpPr txBox="1"/>
          <p:nvPr/>
        </p:nvSpPr>
        <p:spPr>
          <a:xfrm>
            <a:off x="9601200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</a:t>
            </a:r>
            <a:endParaRPr lang="en-US" sz="2000" dirty="0"/>
          </a:p>
        </p:txBody>
      </p:sp>
      <p:sp>
        <p:nvSpPr>
          <p:cNvPr id="26" name="a5_f_d"/>
          <p:cNvSpPr txBox="1"/>
          <p:nvPr/>
        </p:nvSpPr>
        <p:spPr>
          <a:xfrm>
            <a:off x="9601200" y="312724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Telegram alert to the in-charge, relay cuts power</a:t>
            </a:r>
            <a:endParaRPr lang="en-US" sz="1400" dirty="0"/>
          </a:p>
        </p:txBody>
      </p:sp>
      <p:sp>
        <p:nvSpPr>
          <p:cNvPr id="27" name="a6_priv_b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8" name="a6_priv_i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4937760"/>
            <a:ext cx="457200" cy="457200"/>
          </a:xfrm>
          <a:prstGeom prst="rect">
            <a:avLst/>
          </a:prstGeom>
        </p:spPr>
      </p:pic>
      <p:sp>
        <p:nvSpPr>
          <p:cNvPr id="29" name="a6_priv_t"/>
          <p:cNvSpPr txBox="1"/>
          <p:nvPr/>
        </p:nvSpPr>
        <p:spPr>
          <a:xfrm>
            <a:off x="1691640" y="4663440"/>
            <a:ext cx="9555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</a:rPr>
              <a:t>Presence only, no cameras.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PIR sensor reports whether a room is occupied, never who is in it. If the timetable says no class and the sensor sees no one, the room should be 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"/>
                            </p:stCondLst>
                            <p:childTnLst>
                              <p:par>
                                <p:cTn id="8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"/>
                            </p:stCondLst>
                            <p:childTnLst>
                              <p:par>
                                <p:cTn id="10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room, live, in one place</a:t>
            </a:r>
            <a:endParaRPr lang="en-US" sz="3400" dirty="0"/>
          </a:p>
        </p:txBody>
      </p:sp>
      <p:pic>
        <p:nvPicPr>
          <p:cNvPr id="3" name="a1_shot" descr="/tmp/claude-0/-home-claude/7104edfb-7dc4-553f-9527-2994d722921b/scratchpad/ww/s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583680" cy="41148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pic>
      <p:sp>
        <p:nvSpPr>
          <p:cNvPr id="4" name="a1_cap"/>
          <p:cNvSpPr txBox="1"/>
          <p:nvPr/>
        </p:nvSpPr>
        <p:spPr>
          <a:xfrm>
            <a:off x="640080" y="5760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Room page: live power, today's cost by hour and the turn-off button</a:t>
            </a:r>
            <a:endParaRPr lang="en-US" sz="1100" dirty="0"/>
          </a:p>
        </p:txBody>
      </p:sp>
      <p:sp>
        <p:nvSpPr>
          <p:cNvPr id="5" name="a2_ft_c"/>
          <p:cNvSpPr/>
          <p:nvPr/>
        </p:nvSpPr>
        <p:spPr>
          <a:xfrm>
            <a:off x="76352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2_ft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260" y="1760220"/>
            <a:ext cx="320040" cy="320040"/>
          </a:xfrm>
          <a:prstGeom prst="rect">
            <a:avLst/>
          </a:prstGeom>
        </p:spPr>
      </p:pic>
      <p:sp>
        <p:nvSpPr>
          <p:cNvPr id="7" name="a2_ft_h"/>
          <p:cNvSpPr txBox="1"/>
          <p:nvPr/>
        </p:nvSpPr>
        <p:spPr>
          <a:xfrm>
            <a:off x="850392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Live campus map</a:t>
            </a:r>
            <a:endParaRPr lang="en-US" sz="1800" dirty="0"/>
          </a:p>
        </p:txBody>
      </p:sp>
      <p:sp>
        <p:nvSpPr>
          <p:cNvPr id="8" name="a2_ft_d"/>
          <p:cNvSpPr txBox="1"/>
          <p:nvPr/>
        </p:nvSpPr>
        <p:spPr>
          <a:xfrm>
            <a:off x="8503920" y="19476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Buildings and rooms coloured by load, with cost per hour on every pin.</a:t>
            </a:r>
            <a:endParaRPr lang="en-US" sz="1400" dirty="0"/>
          </a:p>
        </p:txBody>
      </p:sp>
      <p:sp>
        <p:nvSpPr>
          <p:cNvPr id="9" name="a3_ft_c"/>
          <p:cNvSpPr/>
          <p:nvPr/>
        </p:nvSpPr>
        <p:spPr>
          <a:xfrm>
            <a:off x="763524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3_ft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3131820"/>
            <a:ext cx="320040" cy="320040"/>
          </a:xfrm>
          <a:prstGeom prst="rect">
            <a:avLst/>
          </a:prstGeom>
        </p:spPr>
      </p:pic>
      <p:sp>
        <p:nvSpPr>
          <p:cNvPr id="11" name="a3_ft_h"/>
          <p:cNvSpPr txBox="1"/>
          <p:nvPr/>
        </p:nvSpPr>
        <p:spPr>
          <a:xfrm>
            <a:off x="850392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Waste alerts</a:t>
            </a:r>
            <a:endParaRPr lang="en-US" sz="1800" dirty="0"/>
          </a:p>
        </p:txBody>
      </p:sp>
      <p:sp>
        <p:nvSpPr>
          <p:cNvPr id="12" name="a3_ft_d"/>
          <p:cNvSpPr txBox="1"/>
          <p:nvPr/>
        </p:nvSpPr>
        <p:spPr>
          <a:xfrm>
            <a:off x="8503920" y="3319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Empty with power on for 15 minutes sends a Telegram message to the building in-charge.</a:t>
            </a:r>
            <a:endParaRPr lang="en-US" sz="1400" dirty="0"/>
          </a:p>
        </p:txBody>
      </p:sp>
      <p:sp>
        <p:nvSpPr>
          <p:cNvPr id="13" name="a4_ft_c"/>
          <p:cNvSpPr/>
          <p:nvPr/>
        </p:nvSpPr>
        <p:spPr>
          <a:xfrm>
            <a:off x="7635240" y="43434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a4_ft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4503420"/>
            <a:ext cx="320040" cy="320040"/>
          </a:xfrm>
          <a:prstGeom prst="rect">
            <a:avLst/>
          </a:prstGeom>
        </p:spPr>
      </p:pic>
      <p:sp>
        <p:nvSpPr>
          <p:cNvPr id="15" name="a4_ft_h"/>
          <p:cNvSpPr txBox="1"/>
          <p:nvPr/>
        </p:nvSpPr>
        <p:spPr>
          <a:xfrm>
            <a:off x="8503920" y="4297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One-tap shutoff</a:t>
            </a:r>
            <a:endParaRPr lang="en-US" sz="1800" dirty="0"/>
          </a:p>
        </p:txBody>
      </p:sp>
      <p:sp>
        <p:nvSpPr>
          <p:cNvPr id="16" name="a4_ft_d"/>
          <p:cNvSpPr txBox="1"/>
          <p:nvPr/>
        </p:nvSpPr>
        <p:spPr>
          <a:xfrm>
            <a:off x="8503920" y="4690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relay cuts the AC and light circuits. Motion turns them back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It learns the campus and predicts tomorrow</a:t>
            </a:r>
            <a:endParaRPr lang="en-US" sz="3400" dirty="0"/>
          </a:p>
        </p:txBody>
      </p:sp>
      <p:graphicFrame>
        <p:nvGraphicFramePr>
          <p:cNvPr id="3" name="a1_chart" descr=""/>
          <p:cNvGraphicFramePr/>
          <p:nvPr/>
        </p:nvGraphicFramePr>
        <p:xfrm>
          <a:off x="640080" y="14630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2_ins_b"/>
          <p:cNvSpPr/>
          <p:nvPr/>
        </p:nvSpPr>
        <p:spPr>
          <a:xfrm>
            <a:off x="8001000" y="160020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2_ins_n"/>
          <p:cNvSpPr txBox="1"/>
          <p:nvPr/>
        </p:nvSpPr>
        <p:spPr>
          <a:xfrm>
            <a:off x="827532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617 kW</a:t>
            </a:r>
            <a:endParaRPr lang="en-US" sz="3600" dirty="0"/>
          </a:p>
        </p:txBody>
      </p:sp>
      <p:sp>
        <p:nvSpPr>
          <p:cNvPr id="6" name="a2_ins_t"/>
          <p:cNvSpPr txBox="1"/>
          <p:nvPr/>
        </p:nvSpPr>
        <p:spPr>
          <a:xfrm>
            <a:off x="827532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expected peak tomorrow at 11 AM. Pre-cooling Block B before 10 AM trims about ₹1,200 off it.</a:t>
            </a:r>
            <a:endParaRPr lang="en-US" sz="1400" dirty="0"/>
          </a:p>
        </p:txBody>
      </p:sp>
      <p:sp>
        <p:nvSpPr>
          <p:cNvPr id="7" name="a3_ins_b"/>
          <p:cNvSpPr/>
          <p:nvPr/>
        </p:nvSpPr>
        <p:spPr>
          <a:xfrm>
            <a:off x="8001000" y="374904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3_ins_n"/>
          <p:cNvSpPr txBox="1"/>
          <p:nvPr/>
        </p:nvSpPr>
        <p:spPr>
          <a:xfrm>
            <a:off x="827532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7 kW</a:t>
            </a:r>
            <a:endParaRPr lang="en-US" sz="3600" dirty="0"/>
          </a:p>
        </p:txBody>
      </p:sp>
      <p:sp>
        <p:nvSpPr>
          <p:cNvPr id="9" name="a3_ins_t"/>
          <p:cNvSpPr txBox="1"/>
          <p:nvPr/>
        </p:nvSpPr>
        <p:spPr>
          <a:xfrm>
            <a:off x="827532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drawn by Computer Lab 3 from midnight to 7 AM on Sunday. Flagged automatically: PCs and lights left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Pays for itself in under three months</a:t>
            </a:r>
            <a:endParaRPr lang="en-US" sz="3400" dirty="0"/>
          </a:p>
        </p:txBody>
      </p:sp>
      <p:sp>
        <p:nvSpPr>
          <p:cNvPr id="3" name="a1_big0_n"/>
          <p:cNvSpPr txBox="1"/>
          <p:nvPr/>
        </p:nvSpPr>
        <p:spPr>
          <a:xfrm>
            <a:off x="6400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₹1.59 L</a:t>
            </a:r>
            <a:endParaRPr lang="en-US" sz="4000" dirty="0"/>
          </a:p>
        </p:txBody>
      </p:sp>
      <p:sp>
        <p:nvSpPr>
          <p:cNvPr id="4" name="a1_big0_l"/>
          <p:cNvSpPr txBox="1"/>
          <p:nvPr/>
        </p:nvSpPr>
        <p:spPr>
          <a:xfrm>
            <a:off x="64008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saved every month</a:t>
            </a:r>
            <a:endParaRPr lang="en-US" sz="1500" dirty="0"/>
          </a:p>
        </p:txBody>
      </p:sp>
      <p:sp>
        <p:nvSpPr>
          <p:cNvPr id="5" name="a1_big1_n"/>
          <p:cNvSpPr txBox="1"/>
          <p:nvPr/>
        </p:nvSpPr>
        <p:spPr>
          <a:xfrm>
            <a:off x="33832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12.7 t</a:t>
            </a:r>
            <a:endParaRPr lang="en-US" sz="4000" dirty="0"/>
          </a:p>
        </p:txBody>
      </p:sp>
      <p:sp>
        <p:nvSpPr>
          <p:cNvPr id="6" name="a1_big1_l"/>
          <p:cNvSpPr txBox="1"/>
          <p:nvPr/>
        </p:nvSpPr>
        <p:spPr>
          <a:xfrm>
            <a:off x="338328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CO₂ avoided each month</a:t>
            </a:r>
            <a:endParaRPr lang="en-US" sz="1500" dirty="0"/>
          </a:p>
        </p:txBody>
      </p:sp>
      <p:sp>
        <p:nvSpPr>
          <p:cNvPr id="7" name="a1_big2_n"/>
          <p:cNvSpPr txBox="1"/>
          <p:nvPr/>
        </p:nvSpPr>
        <p:spPr>
          <a:xfrm>
            <a:off x="61264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2.3 months</a:t>
            </a:r>
            <a:endParaRPr lang="en-US" sz="4000" dirty="0"/>
          </a:p>
        </p:txBody>
      </p:sp>
      <p:sp>
        <p:nvSpPr>
          <p:cNvPr id="8" name="a1_big2_l"/>
          <p:cNvSpPr txBox="1"/>
          <p:nvPr/>
        </p:nvSpPr>
        <p:spPr>
          <a:xfrm>
            <a:off x="612648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hardware payback</a:t>
            </a:r>
            <a:endParaRPr lang="en-US" sz="1500" dirty="0"/>
          </a:p>
        </p:txBody>
      </p:sp>
      <p:sp>
        <p:nvSpPr>
          <p:cNvPr id="9" name="a1_big3_n"/>
          <p:cNvSpPr txBox="1"/>
          <p:nvPr/>
        </p:nvSpPr>
        <p:spPr>
          <a:xfrm>
            <a:off x="8869680" y="1508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₹800</a:t>
            </a:r>
            <a:endParaRPr lang="en-US" sz="4000" dirty="0"/>
          </a:p>
        </p:txBody>
      </p:sp>
      <p:sp>
        <p:nvSpPr>
          <p:cNvPr id="10" name="a1_big3_l"/>
          <p:cNvSpPr txBox="1"/>
          <p:nvPr/>
        </p:nvSpPr>
        <p:spPr>
          <a:xfrm>
            <a:off x="886968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hardware per room</a:t>
            </a:r>
            <a:endParaRPr lang="en-US" sz="1500" dirty="0"/>
          </a:p>
        </p:txBody>
      </p:sp>
      <p:graphicFrame>
        <p:nvGraphicFramePr>
          <p:cNvPr id="11" name="a2_chart" descr=""/>
          <p:cNvGraphicFramePr/>
          <p:nvPr/>
        </p:nvGraphicFramePr>
        <p:xfrm>
          <a:off x="640080" y="3154680"/>
          <a:ext cx="6766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a3_scale_b"/>
          <p:cNvSpPr/>
          <p:nvPr/>
        </p:nvSpPr>
        <p:spPr>
          <a:xfrm>
            <a:off x="7863840" y="3246120"/>
            <a:ext cx="36576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3_scale_t"/>
          <p:cNvSpPr txBox="1"/>
          <p:nvPr/>
        </p:nvSpPr>
        <p:spPr>
          <a:xfrm>
            <a:off x="8138160" y="34747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3327"/>
                </a:solidFill>
              </a:rPr>
              <a:t>Scales to any campus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420 rooms × ₹800 plus one gateway per 40 rooms comes to ₹3.6 lakh in hardware.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the worst block, prove the saving in 30 days, then grow.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See it live</a:t>
            </a:r>
            <a:endParaRPr lang="en-US" sz="4400" dirty="0"/>
          </a:p>
        </p:txBody>
      </p:sp>
      <p:sp>
        <p:nvSpPr>
          <p:cNvPr id="3" name="a1_d_c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a1_d_n"/>
          <p:cNvSpPr txBox="1"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a1_d_h"/>
          <p:cNvSpPr txBox="1"/>
          <p:nvPr/>
        </p:nvSpPr>
        <p:spPr>
          <a:xfrm>
            <a:off x="1508760" y="1737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Leave the room empty</a:t>
            </a:r>
            <a:endParaRPr lang="en-US" sz="2000" dirty="0"/>
          </a:p>
        </p:txBody>
      </p:sp>
      <p:sp>
        <p:nvSpPr>
          <p:cNvPr id="6" name="a1_d_t"/>
          <p:cNvSpPr txBox="1"/>
          <p:nvPr/>
        </p:nvSpPr>
        <p:spPr>
          <a:xfrm>
            <a:off x="150876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DD4"/>
                </a:solidFill>
              </a:rPr>
              <a:t>Bulb and fan on, nobody inside. The sensor sees no motion.</a:t>
            </a:r>
            <a:endParaRPr lang="en-US" sz="1500" dirty="0"/>
          </a:p>
        </p:txBody>
      </p:sp>
      <p:sp>
        <p:nvSpPr>
          <p:cNvPr id="7" name="a2_d_c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2_d_n"/>
          <p:cNvSpPr txBox="1"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a2_d_h"/>
          <p:cNvSpPr txBox="1"/>
          <p:nvPr/>
        </p:nvSpPr>
        <p:spPr>
          <a:xfrm>
            <a:off x="1508760" y="3063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Alert lands on the phone</a:t>
            </a:r>
            <a:endParaRPr lang="en-US" sz="2000" dirty="0"/>
          </a:p>
        </p:txBody>
      </p:sp>
      <p:sp>
        <p:nvSpPr>
          <p:cNvPr id="10" name="a2_d_t"/>
          <p:cNvSpPr txBox="1"/>
          <p:nvPr/>
        </p:nvSpPr>
        <p:spPr>
          <a:xfrm>
            <a:off x="150876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DD4"/>
                </a:solidFill>
              </a:rPr>
              <a:t>Telegram message to the in-charge with the ₹ lost so far.</a:t>
            </a:r>
            <a:endParaRPr lang="en-US" sz="1500" dirty="0"/>
          </a:p>
        </p:txBody>
      </p:sp>
      <p:sp>
        <p:nvSpPr>
          <p:cNvPr id="11" name="a3_d_c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a3_d_n"/>
          <p:cNvSpPr txBox="1"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a3_d_h"/>
          <p:cNvSpPr txBox="1"/>
          <p:nvPr/>
        </p:nvSpPr>
        <p:spPr>
          <a:xfrm>
            <a:off x="1508760" y="4389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Relay cuts the power</a:t>
            </a:r>
            <a:endParaRPr lang="en-US" sz="2000" dirty="0"/>
          </a:p>
        </p:txBody>
      </p:sp>
      <p:sp>
        <p:nvSpPr>
          <p:cNvPr id="14" name="a3_d_t"/>
          <p:cNvSpPr txBox="1"/>
          <p:nvPr/>
        </p:nvSpPr>
        <p:spPr>
          <a:xfrm>
            <a:off x="150876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DD4"/>
                </a:solidFill>
              </a:rPr>
              <a:t>The dashboard shows the room off and the rupees being saved.</a:t>
            </a:r>
            <a:endParaRPr lang="en-US" sz="1500" dirty="0"/>
          </a:p>
        </p:txBody>
      </p:sp>
      <p:sp>
        <p:nvSpPr>
          <p:cNvPr id="15" name="a4_next_b"/>
          <p:cNvSpPr/>
          <p:nvPr/>
        </p:nvSpPr>
        <p:spPr>
          <a:xfrm>
            <a:off x="6903720" y="1783080"/>
            <a:ext cx="4617720" cy="3337560"/>
          </a:xfrm>
          <a:prstGeom prst="roundRect">
            <a:avLst>
              <a:gd name="adj" fmla="val 3836"/>
            </a:avLst>
          </a:prstGeom>
          <a:solidFill>
            <a:srgbClr val="134A39"/>
          </a:solidFill>
          <a:ln w="9525">
            <a:solidFill>
              <a:srgbClr val="2C6B55"/>
            </a:solidFill>
            <a:prstDash val="solid"/>
          </a:ln>
        </p:spPr>
      </p:sp>
      <p:sp>
        <p:nvSpPr>
          <p:cNvPr id="16" name="a4_next_t"/>
          <p:cNvSpPr txBox="1"/>
          <p:nvPr/>
        </p:nvSpPr>
        <p:spPr>
          <a:xfrm>
            <a:off x="7223760" y="201168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need next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C9DDD4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DD4"/>
                </a:solidFill>
              </a:rPr>
              <a:t>One academic block for a 30-day pilot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DD4"/>
                </a:solidFill>
              </a:rPr>
              <a:t>Last year's electricity bills from the admin office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DD4"/>
                </a:solidFill>
              </a:rPr>
              <a:t>Help from an electrician to fit the relays</a:t>
            </a:r>
            <a:endParaRPr lang="en-US" sz="1600" dirty="0"/>
          </a:p>
        </p:txBody>
      </p:sp>
      <p:pic>
        <p:nvPicPr>
          <p:cNvPr id="17" name="a5_end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715000"/>
            <a:ext cx="411480" cy="411480"/>
          </a:xfrm>
          <a:prstGeom prst="rect">
            <a:avLst/>
          </a:prstGeom>
        </p:spPr>
      </p:pic>
      <p:sp>
        <p:nvSpPr>
          <p:cNvPr id="18" name="a5_end_t"/>
          <p:cNvSpPr txBox="1"/>
          <p:nvPr/>
        </p:nvSpPr>
        <p:spPr>
          <a:xfrm>
            <a:off x="1188720" y="5669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attWatch">
  <a:themeElements>
    <a:clrScheme name="WattWatch">
      <a:dk1>
        <a:srgbClr val="1F2421"/>
      </a:dk1>
      <a:lt1>
        <a:srgbClr val="FFFFFF"/>
      </a:lt1>
      <a:dk2>
        <a:srgbClr val="0A3327"/>
      </a:dk2>
      <a:lt2>
        <a:srgbClr val="F3F6F4"/>
      </a:lt2>
      <a:accent1>
        <a:srgbClr val="0B6E4F"/>
      </a:accent1>
      <a:accent2>
        <a:srgbClr val="8FD3B6"/>
      </a:accent2>
      <a:accent3>
        <a:srgbClr val="C62828"/>
      </a:accent3>
      <a:accent4>
        <a:srgbClr val="B7791F"/>
      </a:accent4>
      <a:accent5>
        <a:srgbClr val="5E9C84"/>
      </a:accent5>
      <a:accent6>
        <a:srgbClr val="6A6A6A"/>
      </a:accent6>
      <a:hlink>
        <a:srgbClr val="0B6E4F"/>
      </a:hlink>
      <a:folHlink>
        <a:srgbClr val="5E9C84"/>
      </a:folHlink>
    </a:clrScheme>
    <a:fontScheme name="WattWat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WattWatch: campus energy intelligence</dc:title>
  <dc:subject>PptxGenJS Presentation</dc:subject>
  <dc:creator>WattWatch team</dc:creator>
  <cp:lastModifiedBy>WattWatch team</cp:lastModifiedBy>
  <cp:revision>1</cp:revision>
  <dcterms:created xsi:type="dcterms:W3CDTF">2026-10-13T05:34:52Z</dcterms:created>
  <dcterms:modified xsi:type="dcterms:W3CDTF">2026-10-13T05:34:52Z</dcterms:modified>
</cp:coreProperties>
</file>